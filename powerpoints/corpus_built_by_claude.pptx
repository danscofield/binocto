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30352"/>
            <a:ext cx="11274552" cy="54864"/>
          </a:xfrm>
          <a:prstGeom prst="rect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The Evaluation Corpus  —  188 Synthetic Vulnerabilities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CD6F1"/>
                </a:solidFill>
              </a:rPr>
              <a:t>Orthogonal 3-axis taxonomy across 15 real open-source HTTP servers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115568"/>
            <a:ext cx="3657600" cy="3337560"/>
          </a:xfrm>
          <a:prstGeom prst="rect">
            <a:avLst/>
          </a:prstGeom>
          <a:solidFill>
            <a:srgbClr val="1A1E35"/>
          </a:solidFill>
          <a:ln w="12700">
            <a:solidFill>
              <a:srgbClr val="2E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4048" y="1115568"/>
            <a:ext cx="3657600" cy="256032"/>
          </a:xfrm>
          <a:prstGeom prst="rect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1143000"/>
            <a:ext cx="3456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0F1A"/>
                </a:solidFill>
              </a:rPr>
              <a:t>C — Configuration gate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" y="1417320"/>
            <a:ext cx="3456432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B8DFF"/>
                </a:solidFill>
              </a:rPr>
              <a:t>C1  · Single CLI flag
C1b · Two CLI flags
C1c · Three CLI flags
C2  · Config-file key
C3  · Config file + prior HTTP call</a:t>
            </a:r>
          </a:p>
        </p:txBody>
      </p:sp>
      <p:sp>
        <p:nvSpPr>
          <p:cNvPr id="9" name="Rectangle 8"/>
          <p:cNvSpPr/>
          <p:nvPr/>
        </p:nvSpPr>
        <p:spPr>
          <a:xfrm>
            <a:off x="512064" y="2816352"/>
            <a:ext cx="3401568" cy="18288"/>
          </a:xfrm>
          <a:prstGeom prst="rect">
            <a:avLst/>
          </a:prstGeom>
          <a:solidFill>
            <a:srgbClr val="2E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" y="2871216"/>
            <a:ext cx="3456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788AA"/>
                </a:solidFill>
              </a:rPr>
              <a:t>How many configuration conditions must an attacker satisfy to
open the code path leading to the vulnerable sink?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61104" y="1115568"/>
            <a:ext cx="3657600" cy="3337560"/>
          </a:xfrm>
          <a:prstGeom prst="rect">
            <a:avLst/>
          </a:prstGeom>
          <a:solidFill>
            <a:srgbClr val="1A1E35"/>
          </a:solidFill>
          <a:ln w="12700">
            <a:solidFill>
              <a:srgbClr val="2E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61104" y="1115568"/>
            <a:ext cx="3657600" cy="256032"/>
          </a:xfrm>
          <a:prstGeom prst="rect">
            <a:avLst/>
          </a:prstGeom>
          <a:solidFill>
            <a:srgbClr val="7CE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143000"/>
            <a:ext cx="3456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0F1A"/>
                </a:solidFill>
              </a:rPr>
              <a:t>I — Input indirection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1417320"/>
            <a:ext cx="3456432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CE8B4"/>
                </a:solidFill>
              </a:rPr>
              <a:t>I1  · Direct: cmd passed verbatim to system()
I2  · Buffered: cmd wrapped in snprintf shell string
I3  · Struct dispatch: cmd carried through struct + helper fn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2816352"/>
            <a:ext cx="3401568" cy="18288"/>
          </a:xfrm>
          <a:prstGeom prst="rect">
            <a:avLst/>
          </a:prstGeom>
          <a:solidFill>
            <a:srgbClr val="2E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2871216"/>
            <a:ext cx="3456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788AA"/>
                </a:solidFill>
              </a:rPr>
              <a:t>How many transforms separate the attacker-controlled HTTP
parameter from the argument to system()?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1115568"/>
            <a:ext cx="3657600" cy="3337560"/>
          </a:xfrm>
          <a:prstGeom prst="rect">
            <a:avLst/>
          </a:prstGeom>
          <a:solidFill>
            <a:srgbClr val="1A1E35"/>
          </a:solidFill>
          <a:ln w="12700">
            <a:solidFill>
              <a:srgbClr val="2E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115568"/>
            <a:ext cx="3657600" cy="256032"/>
          </a:xfrm>
          <a:prstGeom prst="rect">
            <a:avLst/>
          </a:prstGeom>
          <a:solidFill>
            <a:srgbClr val="FFC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66176" y="1143000"/>
            <a:ext cx="3456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0F1A"/>
                </a:solidFill>
              </a:rPr>
              <a:t>S — Sanitization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6176" y="1417320"/>
            <a:ext cx="3456432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CC55"/>
                </a:solidFill>
              </a:rPr>
              <a:t>S1  · None (no filter)
S2  · Bypassable (blocks '|'; bypass with ';' or '&gt;')
S3  · Config-gated strict filter (exploitable only when
      --strict-exec is absent)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66176" y="2816352"/>
            <a:ext cx="3401568" cy="18288"/>
          </a:xfrm>
          <a:prstGeom prst="rect">
            <a:avLst/>
          </a:prstGeom>
          <a:solidFill>
            <a:srgbClr val="2E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66176" y="2871216"/>
            <a:ext cx="3456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788AA"/>
                </a:solidFill>
              </a:rPr>
              <a:t>Is there a sanitization check? Can it be bypassed, and
does configuration control whether it runs at all?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4048" y="4572000"/>
            <a:ext cx="11420856" cy="502920"/>
          </a:xfrm>
          <a:prstGeom prst="rect">
            <a:avLst/>
          </a:prstGeom>
          <a:solidFill>
            <a:srgbClr val="0C1428"/>
          </a:solidFill>
          <a:ln w="12700">
            <a:solidFill>
              <a:srgbClr val="5B8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626864"/>
            <a:ext cx="11064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B8DFF"/>
                </a:solidFill>
              </a:rPr>
              <a:t>5 C-levels  ×  3 I-levels  ×  3 S-levels  =  45 axis combinations  —  all represented across 15 real servers (darkhttpd, civetweb, lighttpd, lwan, h2o, mongoose, kore, onion, ulfius, libwebsockets, seasocks, ...)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" y="5230368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D6F1"/>
                </a:solidFill>
              </a:rPr>
              <a:t>Every sample contains: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" y="5559552"/>
            <a:ext cx="2176272" cy="731520"/>
          </a:xfrm>
          <a:prstGeom prst="rect">
            <a:avLst/>
          </a:prstGeom>
          <a:solidFill>
            <a:srgbClr val="1A1E35"/>
          </a:solidFill>
          <a:ln w="12700">
            <a:solidFill>
              <a:srgbClr val="2E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84048" y="5559552"/>
            <a:ext cx="109728" cy="731520"/>
          </a:xfrm>
          <a:prstGeom prst="rect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5216" y="5614416"/>
            <a:ext cx="19202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B8DFF"/>
                </a:solidFill>
              </a:rPr>
              <a:t>patch.diff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" y="5888736"/>
            <a:ext cx="19202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F1"/>
                </a:solidFill>
              </a:rPr>
              <a:t>Unified diff injecting the synthetic vulnerability into unmodified server source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97479" y="5559552"/>
            <a:ext cx="2176272" cy="731520"/>
          </a:xfrm>
          <a:prstGeom prst="rect">
            <a:avLst/>
          </a:prstGeom>
          <a:solidFill>
            <a:srgbClr val="1A1E35"/>
          </a:solidFill>
          <a:ln w="12700">
            <a:solidFill>
              <a:srgbClr val="2E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697479" y="5559552"/>
            <a:ext cx="109728" cy="731520"/>
          </a:xfrm>
          <a:prstGeom prst="rect">
            <a:avLst/>
          </a:prstGeom>
          <a:solidFill>
            <a:srgbClr val="7CE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98648" y="5614416"/>
            <a:ext cx="19202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E8B4"/>
                </a:solidFill>
              </a:rPr>
              <a:t>build.sh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98648" y="5888736"/>
            <a:ext cx="19202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F1"/>
                </a:solidFill>
              </a:rPr>
              <a:t>Deterministic compile script; reproduces binary from any clean checkout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10912" y="5559552"/>
            <a:ext cx="2176272" cy="731520"/>
          </a:xfrm>
          <a:prstGeom prst="rect">
            <a:avLst/>
          </a:prstGeom>
          <a:solidFill>
            <a:srgbClr val="1A1E35"/>
          </a:solidFill>
          <a:ln w="12700">
            <a:solidFill>
              <a:srgbClr val="2E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10912" y="5559552"/>
            <a:ext cx="109728" cy="731520"/>
          </a:xfrm>
          <a:prstGeom prst="rect">
            <a:avLst/>
          </a:prstGeom>
          <a:solidFill>
            <a:srgbClr val="FFC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12079" y="5614416"/>
            <a:ext cx="19202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C55"/>
                </a:solidFill>
              </a:rPr>
              <a:t>PoC.sh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12079" y="5888736"/>
            <a:ext cx="19202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F1"/>
                </a:solidFill>
              </a:rPr>
              <a:t>End-to-end exploit: starts server, triggers RCE, verifies marker; negative control included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24344" y="5559552"/>
            <a:ext cx="2176272" cy="731520"/>
          </a:xfrm>
          <a:prstGeom prst="rect">
            <a:avLst/>
          </a:prstGeom>
          <a:solidFill>
            <a:srgbClr val="1A1E35"/>
          </a:solidFill>
          <a:ln w="12700">
            <a:solidFill>
              <a:srgbClr val="2E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324344" y="5559552"/>
            <a:ext cx="109728" cy="731520"/>
          </a:xfrm>
          <a:prstGeom prst="rect">
            <a:avLst/>
          </a:prstGeom>
          <a:solidFill>
            <a:srgbClr val="FF7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25512" y="5614416"/>
            <a:ext cx="19202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7C5C"/>
                </a:solidFill>
              </a:rPr>
              <a:t>PROVENANCE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25512" y="5888736"/>
            <a:ext cx="19202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F1"/>
                </a:solidFill>
              </a:rPr>
              <a:t>Structured metadata: axes, gate mechanism, sink location, exploit recipe, changed files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637776" y="5559552"/>
            <a:ext cx="2176272" cy="731520"/>
          </a:xfrm>
          <a:prstGeom prst="rect">
            <a:avLst/>
          </a:prstGeom>
          <a:solidFill>
            <a:srgbClr val="1A1E35"/>
          </a:solidFill>
          <a:ln w="12700">
            <a:solidFill>
              <a:srgbClr val="2E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637776" y="5559552"/>
            <a:ext cx="109728" cy="731520"/>
          </a:xfrm>
          <a:prstGeom prst="rect">
            <a:avLst/>
          </a:prstGeom>
          <a:solidFill>
            <a:srgbClr val="77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838944" y="5614416"/>
            <a:ext cx="19202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788AA"/>
                </a:solidFill>
              </a:rPr>
              <a:t>binary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38944" y="5888736"/>
            <a:ext cx="19202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F1"/>
                </a:solidFill>
              </a:rPr>
              <a:t>Pre-built patched executable — evaluation never requires recompilation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30352"/>
            <a:ext cx="11274552" cy="54864"/>
          </a:xfrm>
          <a:prstGeom prst="rect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Built by Claude  —  21 Parallel Agents, ~65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CD6F1"/>
                </a:solidFill>
              </a:rPr>
              <a:t>The corpus was itself produced by the same agentic approach it evaluates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7C5C"/>
                </a:solidFill>
              </a:rPr>
              <a:t>What corpus construction required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89888"/>
            <a:ext cx="5394960" cy="1097280"/>
          </a:xfrm>
          <a:prstGeom prst="rect">
            <a:avLst/>
          </a:prstGeom>
          <a:solidFill>
            <a:srgbClr val="1A1E35"/>
          </a:solidFill>
          <a:ln w="12700">
            <a:solidFill>
              <a:srgbClr val="2E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89888"/>
            <a:ext cx="128016" cy="1097280"/>
          </a:xfrm>
          <a:prstGeom prst="rect">
            <a:avLst/>
          </a:prstGeom>
          <a:solidFill>
            <a:srgbClr val="FF7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463040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C5C"/>
                </a:solidFill>
              </a:rPr>
              <a:t>Deep server expertise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810512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F1"/>
                </a:solidFill>
              </a:rPr>
              <a:t>Each of 15 HTTP servers has its own request dispatch loop, argv parsing idioms, config-file format, and build system. Creating a correct patch requires reading and understanding all of them.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560320"/>
            <a:ext cx="5394960" cy="1097280"/>
          </a:xfrm>
          <a:prstGeom prst="rect">
            <a:avLst/>
          </a:prstGeom>
          <a:solidFill>
            <a:srgbClr val="1A1E35"/>
          </a:solidFill>
          <a:ln w="12700">
            <a:solidFill>
              <a:srgbClr val="2E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560320"/>
            <a:ext cx="128016" cy="1097280"/>
          </a:xfrm>
          <a:prstGeom prst="rect">
            <a:avLst/>
          </a:prstGeom>
          <a:solidFill>
            <a:srgbClr val="FF7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633472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C5C"/>
                </a:solidFill>
              </a:rPr>
              <a:t>Correct, verified patches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980944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F1"/>
                </a:solidFill>
              </a:rPr>
              <a:t>Every diff must: compile cleanly, route HTTP correctly, wire the gate variable to the exact right flag/file key, and produce a system() call reachable through the intended I-axis path.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730752"/>
            <a:ext cx="5394960" cy="1097280"/>
          </a:xfrm>
          <a:prstGeom prst="rect">
            <a:avLst/>
          </a:prstGeom>
          <a:solidFill>
            <a:srgbClr val="1A1E35"/>
          </a:solidFill>
          <a:ln w="12700">
            <a:solidFill>
              <a:srgbClr val="2E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730752"/>
            <a:ext cx="128016" cy="1097280"/>
          </a:xfrm>
          <a:prstGeom prst="rect">
            <a:avLst/>
          </a:prstGeom>
          <a:solidFill>
            <a:srgbClr val="FF7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803904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C5C"/>
                </a:solidFill>
              </a:rPr>
              <a:t>End-to-end PoC scripts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4151376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F1"/>
                </a:solidFill>
              </a:rPr>
              <a:t>Each PoC must start the patched server, send a working exploit payload, verify RCE via a marker file, then re-run with the gate disabled and confirm the endpoint returns 404 (negative control).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901184"/>
            <a:ext cx="5394960" cy="1097280"/>
          </a:xfrm>
          <a:prstGeom prst="rect">
            <a:avLst/>
          </a:prstGeom>
          <a:solidFill>
            <a:srgbClr val="1A1E35"/>
          </a:solidFill>
          <a:ln w="12700">
            <a:solidFill>
              <a:srgbClr val="2E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901184"/>
            <a:ext cx="128016" cy="1097280"/>
          </a:xfrm>
          <a:prstGeom prst="rect">
            <a:avLst/>
          </a:prstGeom>
          <a:solidFill>
            <a:srgbClr val="FF7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4974336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C5C"/>
                </a:solidFill>
              </a:rPr>
              <a:t>940 files, 45 axis combinations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5321808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F1"/>
                </a:solidFill>
              </a:rPr>
              <a:t>188 samples x 5 artifacts = 940 files. Every C x I x S combination must be represented across diverse servers with no copy-paste shortcuts — each server's code path is unique.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53328" y="1005840"/>
            <a:ext cx="36576" cy="5349240"/>
          </a:xfrm>
          <a:prstGeom prst="rect">
            <a:avLst/>
          </a:prstGeom>
          <a:solidFill>
            <a:srgbClr val="2E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36208" y="102412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CE8B4"/>
                </a:solidFill>
              </a:rPr>
              <a:t>How Claude built it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36208" y="1389888"/>
            <a:ext cx="5486400" cy="1097280"/>
          </a:xfrm>
          <a:prstGeom prst="rect">
            <a:avLst/>
          </a:prstGeom>
          <a:solidFill>
            <a:srgbClr val="1A1E35"/>
          </a:solidFill>
          <a:ln w="12700">
            <a:solidFill>
              <a:srgbClr val="2E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36208" y="1389888"/>
            <a:ext cx="128016" cy="1097280"/>
          </a:xfrm>
          <a:prstGeom prst="rect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1463040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B8DFF"/>
                </a:solidFill>
              </a:rPr>
              <a:t>Wave 1 — 15 parallel agents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1810512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F1"/>
                </a:solidFill>
              </a:rPr>
              <a:t>One agent per server. Each agent read the server source tree, identified the request dispatch loop and argv parser, wrote a patch for C1/C1b/C1c x I1-I3 x S1-S3 variants, compiled each binary, and ran the PoC to confirm RCE.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36208" y="2560320"/>
            <a:ext cx="5486400" cy="1097280"/>
          </a:xfrm>
          <a:prstGeom prst="rect">
            <a:avLst/>
          </a:prstGeom>
          <a:solidFill>
            <a:srgbClr val="1A1E35"/>
          </a:solidFill>
          <a:ln w="12700">
            <a:solidFill>
              <a:srgbClr val="2E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36208" y="2560320"/>
            <a:ext cx="128016" cy="1097280"/>
          </a:xfrm>
          <a:prstGeom prst="rect">
            <a:avLst/>
          </a:prstGeom>
          <a:solidFill>
            <a:srgbClr val="7CE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2633472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E8B4"/>
                </a:solidFill>
              </a:rPr>
              <a:t>Wave 2 — 6 parallel agents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2980944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F1"/>
                </a:solidFill>
              </a:rPr>
              <a:t>Six agents added C2 and C3 variants across the same servers: config-file-parsed gates (C2) and runtime-state gates requiring a prior HTTP call to /exec/init with a secret token (C3). 72 new samples; each verified end-to-end.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6208" y="3730752"/>
            <a:ext cx="5486400" cy="1097280"/>
          </a:xfrm>
          <a:prstGeom prst="rect">
            <a:avLst/>
          </a:prstGeom>
          <a:solidFill>
            <a:srgbClr val="1A1E35"/>
          </a:solidFill>
          <a:ln w="12700">
            <a:solidFill>
              <a:srgbClr val="2E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6208" y="3730752"/>
            <a:ext cx="128016" cy="1097280"/>
          </a:xfrm>
          <a:prstGeom prst="rect">
            <a:avLst/>
          </a:prstGeom>
          <a:solidFill>
            <a:srgbClr val="FFC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3803904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C55"/>
                </a:solidFill>
              </a:rPr>
              <a:t>Per-agent workflow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4151376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F1"/>
                </a:solidFill>
              </a:rPr>
              <a:t>Read source → patch → build.sh → PoC.sh → compile → exploit (RCE confirmed) → negative control (gate disabled, 404 returned) → write PROVENANCE + ground_truth.json.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36208" y="4901184"/>
            <a:ext cx="5486400" cy="1097280"/>
          </a:xfrm>
          <a:prstGeom prst="rect">
            <a:avLst/>
          </a:prstGeom>
          <a:solidFill>
            <a:srgbClr val="1A1E35"/>
          </a:solidFill>
          <a:ln w="12700">
            <a:solidFill>
              <a:srgbClr val="2E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36208" y="4901184"/>
            <a:ext cx="128016" cy="1097280"/>
          </a:xfrm>
          <a:prstGeom prst="rect">
            <a:avLst/>
          </a:prstGeom>
          <a:solidFill>
            <a:srgbClr val="77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0" y="4974336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788AA"/>
                </a:solidFill>
              </a:rPr>
              <a:t>Total wall time: ~65 minutes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532180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F1"/>
                </a:solidFill>
              </a:rPr>
              <a:t>188 samples, 940 files, 15 servers, 45 axis combinations. A task that would take a team of expert security researchers several weeks was completed in a single afternoon.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" y="6291072"/>
            <a:ext cx="11338560" cy="475488"/>
          </a:xfrm>
          <a:prstGeom prst="rect">
            <a:avLst/>
          </a:prstGeom>
          <a:solidFill>
            <a:srgbClr val="081410"/>
          </a:solidFill>
          <a:ln w="15240">
            <a:solidFill>
              <a:srgbClr val="7CE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6327648"/>
            <a:ext cx="11064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6F1"/>
                </a:solidFill>
              </a:rPr>
              <a:t>The corpus is a demonstration of the approach, not just an evaluation of it.  Claude read 15 real server codebases, synthesised 188 precisely structured vulnerabilities across an orthogonal 3-axis design, verified each one end-to-end, and produced 940 machine-readable artifacts — all without human intervention in the construction loop.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